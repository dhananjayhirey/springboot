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2" d="100"/>
          <a:sy n="82" d="100"/>
        </p:scale>
        <p:origin x="-1474" y="-91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905000"/>
            <a:ext cx="7543800" cy="2593975"/>
          </a:xfrm>
        </p:spPr>
        <p:txBody>
          <a:bodyPr anchor="b"/>
          <a:lstStyle>
            <a:lvl1pPr>
              <a:defRPr sz="6600">
                <a:ln>
                  <a:noFill/>
                </a:ln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4572000"/>
            <a:ext cx="6461760" cy="10668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5486400"/>
            <a:ext cx="7659687" cy="1168400"/>
          </a:xfrm>
        </p:spPr>
        <p:txBody>
          <a:bodyPr anchor="t"/>
          <a:lstStyle>
            <a:lvl1pPr algn="l">
              <a:defRPr sz="3600" b="0" cap="all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3852863"/>
            <a:ext cx="6135687" cy="1633538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536192"/>
            <a:ext cx="3657600" cy="45902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19600" y="1536192"/>
            <a:ext cx="3657600" cy="45902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3657600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365760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19600" y="1535113"/>
            <a:ext cx="3657600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419600" y="2174875"/>
            <a:ext cx="365760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1" y="5495544"/>
            <a:ext cx="7772400" cy="594360"/>
          </a:xfrm>
        </p:spPr>
        <p:txBody>
          <a:bodyPr anchor="b"/>
          <a:lstStyle>
            <a:lvl1pPr algn="ctr">
              <a:defRPr sz="2200" b="1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4799" y="6096000"/>
            <a:ext cx="7772401" cy="6096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304800" y="381000"/>
            <a:ext cx="7772400" cy="494284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1752" y="5495278"/>
            <a:ext cx="7772400" cy="594626"/>
          </a:xfrm>
        </p:spPr>
        <p:txBody>
          <a:bodyPr anchor="b"/>
          <a:lstStyle>
            <a:lvl1pPr algn="ctr">
              <a:defRPr sz="2200" b="1">
                <a:ln>
                  <a:noFill/>
                </a:ln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84582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1752" y="6096000"/>
            <a:ext cx="7772400" cy="612648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12/20/2025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1752600" cy="5851525"/>
          </a:xfrm>
        </p:spPr>
        <p:txBody>
          <a:bodyPr vert="eaVert" anchor="b" anchorCtr="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6200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7620000" cy="4800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8458200" y="0"/>
            <a:ext cx="6858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8458200" y="5486400"/>
            <a:ext cx="685800" cy="685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31788" y="5648960"/>
            <a:ext cx="548640" cy="396240"/>
          </a:xfrm>
          <a:prstGeom prst="bracketPair">
            <a:avLst>
              <a:gd name="adj" fmla="val 17949"/>
            </a:avLst>
          </a:prstGeom>
          <a:ln w="19050">
            <a:solidFill>
              <a:srgbClr val="FFFFFF"/>
            </a:solidFill>
          </a:ln>
        </p:spPr>
        <p:txBody>
          <a:bodyPr vert="horz" lIns="0" tIns="0" rIns="0" bIns="0" rtlCol="0" anchor="ctr"/>
          <a:lstStyle>
            <a:lvl1pPr algn="ctr">
              <a:defRPr sz="1800">
                <a:solidFill>
                  <a:srgbClr val="FFFFFF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7586910" y="4048760"/>
            <a:ext cx="2367281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7551351" y="1645920"/>
            <a:ext cx="2438399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2"/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12/20/2025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4600" kern="1200" cap="none" spc="-100" baseline="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34290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28600" algn="l" defTabSz="914400" rtl="0" eaLnBrk="1" latinLnBrk="0" hangingPunct="1">
        <a:spcBef>
          <a:spcPct val="20000"/>
        </a:spcBef>
        <a:buClr>
          <a:schemeClr val="accent2"/>
        </a:buClr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05840" indent="-228600" algn="l" defTabSz="914400" rtl="0" eaLnBrk="1" latinLnBrk="0" hangingPunct="1">
        <a:spcBef>
          <a:spcPct val="20000"/>
        </a:spcBef>
        <a:buClr>
          <a:schemeClr val="accent3"/>
        </a:buClr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80160" indent="-228600" algn="l" defTabSz="914400" rtl="0" eaLnBrk="1" latinLnBrk="0" hangingPunct="1">
        <a:spcBef>
          <a:spcPct val="20000"/>
        </a:spcBef>
        <a:buClr>
          <a:schemeClr val="accent4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554480" indent="-228600" algn="l" defTabSz="914400" rtl="0" eaLnBrk="1" latinLnBrk="0" hangingPunct="1">
        <a:spcBef>
          <a:spcPct val="20000"/>
        </a:spcBef>
        <a:buClr>
          <a:schemeClr val="accent5"/>
        </a:buClr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defTabSz="914400" rtl="0" eaLnBrk="1" latinLnBrk="0" hangingPunct="1">
        <a:spcBef>
          <a:spcPct val="20000"/>
        </a:spcBef>
        <a:buClr>
          <a:schemeClr val="accent2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103120" indent="-182880" algn="l" defTabSz="914400" rtl="0" eaLnBrk="1" latinLnBrk="0" hangingPunct="1">
        <a:spcBef>
          <a:spcPct val="20000"/>
        </a:spcBef>
        <a:buClr>
          <a:schemeClr val="accent3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182880" algn="l" defTabSz="914400" rtl="0" eaLnBrk="1" latinLnBrk="0" hangingPunct="1">
        <a:spcBef>
          <a:spcPct val="20000"/>
        </a:spcBef>
        <a:buClr>
          <a:schemeClr val="accent4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Hospital Management System using </a:t>
            </a:r>
            <a:r>
              <a:rPr lang="en-US" dirty="0" err="1" smtClean="0"/>
              <a:t>PostgreSQL</a:t>
            </a:r>
            <a:r>
              <a:rPr lang="en-US" dirty="0" smtClean="0"/>
              <a:t> and </a:t>
            </a:r>
            <a:r>
              <a:rPr lang="en-US" dirty="0" err="1" smtClean="0"/>
              <a:t>Springboot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Dhananjay Hirey – 12310048 KO022SH</a:t>
            </a:r>
          </a:p>
          <a:p>
            <a:r>
              <a:rPr lang="en-US" dirty="0" smtClean="0"/>
              <a:t>Roll. No. 30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170788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Introduction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This project focuses on the design and development of a Hospital Management System Backend using Spring Boot as the core framework and </a:t>
            </a:r>
            <a:r>
              <a:rPr lang="en-US" dirty="0" err="1"/>
              <a:t>PostgreSQL</a:t>
            </a:r>
            <a:r>
              <a:rPr lang="en-US" dirty="0"/>
              <a:t> as the relational database. </a:t>
            </a:r>
            <a:endParaRPr lang="en-US" dirty="0" smtClean="0"/>
          </a:p>
          <a:p>
            <a:r>
              <a:rPr lang="en-US" dirty="0" smtClean="0"/>
              <a:t>The </a:t>
            </a:r>
            <a:r>
              <a:rPr lang="en-US" dirty="0"/>
              <a:t>system is developed following industry-standard layered architecture, ensuring clean separation of concerns, maintainability, and scalability. </a:t>
            </a:r>
            <a:endParaRPr lang="en-US" dirty="0" smtClean="0"/>
          </a:p>
          <a:p>
            <a:r>
              <a:rPr lang="en-US" dirty="0" smtClean="0"/>
              <a:t>It </a:t>
            </a:r>
            <a:r>
              <a:rPr lang="en-US" dirty="0"/>
              <a:t>provides </a:t>
            </a:r>
            <a:r>
              <a:rPr lang="en-US" dirty="0" err="1"/>
              <a:t>RESTful</a:t>
            </a:r>
            <a:r>
              <a:rPr lang="en-US" dirty="0"/>
              <a:t> APIs to manage doctors, patients, medicines, billing receipts, and medicine stock while enforcing real-world hospital business rules such as stock validation and billing calculations.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721481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Tech Stack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Backend: </a:t>
            </a:r>
            <a:r>
              <a:rPr lang="en-US" dirty="0" err="1" smtClean="0"/>
              <a:t>SpringBoot</a:t>
            </a:r>
            <a:endParaRPr lang="en-US" dirty="0" smtClean="0"/>
          </a:p>
          <a:p>
            <a:r>
              <a:rPr lang="en-US" dirty="0" smtClean="0"/>
              <a:t>Frontend: </a:t>
            </a:r>
            <a:r>
              <a:rPr lang="en-US" dirty="0" err="1" smtClean="0"/>
              <a:t>React+TailwindCSS</a:t>
            </a:r>
            <a:endParaRPr lang="en-US" dirty="0" smtClean="0"/>
          </a:p>
          <a:p>
            <a:r>
              <a:rPr lang="en-US" dirty="0" smtClean="0"/>
              <a:t>Database: Containerized </a:t>
            </a:r>
            <a:r>
              <a:rPr lang="en-US" dirty="0" err="1" smtClean="0"/>
              <a:t>PostgreSQL</a:t>
            </a:r>
            <a:r>
              <a:rPr lang="en-US" dirty="0" smtClean="0"/>
              <a:t> being accessed through Hibernate ORM</a:t>
            </a:r>
          </a:p>
          <a:p>
            <a:pPr marL="114300" indent="0">
              <a:buNone/>
            </a:pPr>
            <a:endParaRPr lang="en-IN" i="1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8539" y="3143250"/>
            <a:ext cx="2830286" cy="1485900"/>
          </a:xfrm>
          <a:prstGeom prst="rect">
            <a:avLst/>
          </a:prstGeom>
        </p:spPr>
      </p:pic>
      <p:pic>
        <p:nvPicPr>
          <p:cNvPr id="1026" name="Picture 2" descr="PostgreSQL Logo Free Vector | FreeImages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1000" y="3147915"/>
            <a:ext cx="1743075" cy="19335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File:React-icon.svg - Wikimedia Commons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53682" y="4629150"/>
            <a:ext cx="2089079" cy="1859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File:Hibernate logo a.png - Wikimedia Commons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5800" y="5081491"/>
            <a:ext cx="3583296" cy="9945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948987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Maven Commands Used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1. Clean install and build without tests: .\mvnw.cmd clean install –</a:t>
            </a:r>
            <a:r>
              <a:rPr lang="en-IN" dirty="0" err="1"/>
              <a:t>DskipTests</a:t>
            </a:r>
            <a:r>
              <a:rPr lang="en-IN" dirty="0"/>
              <a:t> </a:t>
            </a:r>
            <a:endParaRPr lang="en-IN" dirty="0" smtClean="0"/>
          </a:p>
          <a:p>
            <a:endParaRPr lang="en-IN" dirty="0"/>
          </a:p>
          <a:p>
            <a:endParaRPr lang="en-IN" dirty="0" smtClean="0"/>
          </a:p>
          <a:p>
            <a:r>
              <a:rPr lang="en-IN" dirty="0" smtClean="0"/>
              <a:t>2</a:t>
            </a:r>
            <a:r>
              <a:rPr lang="en-IN" dirty="0"/>
              <a:t>. Run the file: java "-</a:t>
            </a:r>
            <a:r>
              <a:rPr lang="en-IN" dirty="0" err="1"/>
              <a:t>Duser.timezone</a:t>
            </a:r>
            <a:r>
              <a:rPr lang="en-IN" dirty="0"/>
              <a:t>=UTC" -jar target/hospitalManagementSystem-0.0.1-SNAPSHOT.jar</a:t>
            </a:r>
          </a:p>
        </p:txBody>
      </p:sp>
    </p:spTree>
    <p:extLst>
      <p:ext uri="{BB962C8B-B14F-4D97-AF65-F5344CB8AC3E}">
        <p14:creationId xmlns:p14="http://schemas.microsoft.com/office/powerpoint/2010/main" val="38829753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Project Structure</a:t>
            </a:r>
            <a:endParaRPr lang="en-IN" dirty="0"/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5400" y="1752600"/>
            <a:ext cx="5646579" cy="43579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6620139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Build Lifecycle Management Maven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manages </a:t>
            </a:r>
            <a:r>
              <a:rPr lang="en-US" dirty="0"/>
              <a:t>the entire build lifecycle of the project through predefined phases</a:t>
            </a:r>
            <a:r>
              <a:rPr lang="en-US" dirty="0" smtClean="0"/>
              <a:t>:</a:t>
            </a:r>
          </a:p>
          <a:p>
            <a:r>
              <a:rPr lang="en-US" dirty="0" smtClean="0"/>
              <a:t> </a:t>
            </a:r>
            <a:r>
              <a:rPr lang="en-US" dirty="0"/>
              <a:t>1. validate – Validates project structure </a:t>
            </a:r>
            <a:endParaRPr lang="en-US" dirty="0" smtClean="0"/>
          </a:p>
          <a:p>
            <a:r>
              <a:rPr lang="en-US" dirty="0" smtClean="0"/>
              <a:t>2</a:t>
            </a:r>
            <a:r>
              <a:rPr lang="en-US" dirty="0"/>
              <a:t>. compile – Compiles source code </a:t>
            </a:r>
            <a:endParaRPr lang="en-US" dirty="0" smtClean="0"/>
          </a:p>
          <a:p>
            <a:r>
              <a:rPr lang="en-US" dirty="0" smtClean="0"/>
              <a:t>3</a:t>
            </a:r>
            <a:r>
              <a:rPr lang="en-US" dirty="0"/>
              <a:t>. test – Executes unit tests </a:t>
            </a:r>
            <a:endParaRPr lang="en-US" dirty="0" smtClean="0"/>
          </a:p>
          <a:p>
            <a:r>
              <a:rPr lang="en-US" dirty="0" smtClean="0"/>
              <a:t>4</a:t>
            </a:r>
            <a:r>
              <a:rPr lang="en-US" dirty="0"/>
              <a:t>. package – Packages the application into a JAR file </a:t>
            </a:r>
            <a:endParaRPr lang="en-US" dirty="0" smtClean="0"/>
          </a:p>
          <a:p>
            <a:r>
              <a:rPr lang="en-US" dirty="0" smtClean="0"/>
              <a:t>5</a:t>
            </a:r>
            <a:r>
              <a:rPr lang="en-US" dirty="0"/>
              <a:t>. install – Installs the JAR into local repository </a:t>
            </a:r>
            <a:endParaRPr lang="en-US" dirty="0" smtClean="0"/>
          </a:p>
          <a:p>
            <a:r>
              <a:rPr lang="en-US" dirty="0" smtClean="0"/>
              <a:t>6</a:t>
            </a:r>
            <a:r>
              <a:rPr lang="en-US" dirty="0"/>
              <a:t>. deploy – Prepares for deployment (optional)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561709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Advantages of Using Maven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 smtClean="0"/>
          </a:p>
          <a:p>
            <a:endParaRPr lang="en-IN" sz="3200" dirty="0"/>
          </a:p>
          <a:p>
            <a:r>
              <a:rPr lang="en-IN" sz="3200" dirty="0" smtClean="0"/>
              <a:t> </a:t>
            </a:r>
            <a:r>
              <a:rPr lang="en-IN" sz="3200" dirty="0"/>
              <a:t>Centralized dependency management </a:t>
            </a:r>
            <a:endParaRPr lang="en-IN" sz="3200" dirty="0" smtClean="0"/>
          </a:p>
          <a:p>
            <a:r>
              <a:rPr lang="en-IN" sz="3200" dirty="0" smtClean="0"/>
              <a:t> </a:t>
            </a:r>
            <a:r>
              <a:rPr lang="en-IN" sz="3200" dirty="0"/>
              <a:t>Reduced configuration overhead </a:t>
            </a:r>
            <a:endParaRPr lang="en-IN" sz="3200" dirty="0" smtClean="0"/>
          </a:p>
          <a:p>
            <a:r>
              <a:rPr lang="en-IN" sz="3200" dirty="0" smtClean="0"/>
              <a:t> </a:t>
            </a:r>
            <a:r>
              <a:rPr lang="en-IN" sz="3200" dirty="0"/>
              <a:t>Easy integration with CI/CD </a:t>
            </a:r>
            <a:r>
              <a:rPr lang="en-IN" sz="3200" dirty="0" smtClean="0"/>
              <a:t>pipelines</a:t>
            </a:r>
          </a:p>
          <a:p>
            <a:r>
              <a:rPr lang="en-IN" sz="3200" dirty="0" smtClean="0"/>
              <a:t>Improved </a:t>
            </a:r>
            <a:r>
              <a:rPr lang="en-IN" sz="3200" dirty="0"/>
              <a:t>project scalability and maintainability</a:t>
            </a:r>
          </a:p>
        </p:txBody>
      </p:sp>
    </p:spTree>
    <p:extLst>
      <p:ext uri="{BB962C8B-B14F-4D97-AF65-F5344CB8AC3E}">
        <p14:creationId xmlns:p14="http://schemas.microsoft.com/office/powerpoint/2010/main" val="325942160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Adjacency">
  <a:themeElements>
    <a:clrScheme name="Adjacency">
      <a:dk1>
        <a:srgbClr val="2F2B20"/>
      </a:dk1>
      <a:lt1>
        <a:srgbClr val="FFFFFF"/>
      </a:lt1>
      <a:dk2>
        <a:srgbClr val="675E47"/>
      </a:dk2>
      <a:lt2>
        <a:srgbClr val="DFDCB7"/>
      </a:lt2>
      <a:accent1>
        <a:srgbClr val="A9A57C"/>
      </a:accent1>
      <a:accent2>
        <a:srgbClr val="9CBEBD"/>
      </a:accent2>
      <a:accent3>
        <a:srgbClr val="D2CB6C"/>
      </a:accent3>
      <a:accent4>
        <a:srgbClr val="95A39D"/>
      </a:accent4>
      <a:accent5>
        <a:srgbClr val="C89F5D"/>
      </a:accent5>
      <a:accent6>
        <a:srgbClr val="B1A089"/>
      </a:accent6>
      <a:hlink>
        <a:srgbClr val="D25814"/>
      </a:hlink>
      <a:folHlink>
        <a:srgbClr val="849A0A"/>
      </a:folHlink>
    </a:clrScheme>
    <a:fontScheme name="Office">
      <a:majorFont>
        <a:latin typeface="Cambri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明朝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djacency">
      <a:fillStyleLst>
        <a:solidFill>
          <a:schemeClr val="phClr"/>
        </a:solidFill>
        <a:solidFill>
          <a:schemeClr val="phClr">
            <a:tint val="55000"/>
          </a:schemeClr>
        </a:solidFill>
        <a:solidFill>
          <a:schemeClr val="phClr"/>
        </a:soli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algn="bl" rotWithShape="0">
              <a:srgbClr val="000000">
                <a:alpha val="60000"/>
              </a:srgbClr>
            </a:outerShdw>
          </a:effectLst>
        </a:effectStyle>
        <a:effectStyle>
          <a:effectLst/>
          <a:scene3d>
            <a:camera prst="orthographicFront">
              <a:rot lat="0" lon="0" rev="0"/>
            </a:camera>
            <a:lightRig rig="brightRoom" dir="tl">
              <a:rot lat="0" lon="0" rev="1800000"/>
            </a:lightRig>
          </a:scene3d>
          <a:sp3d contourW="10160" prstMaterial="dkEdge">
            <a:bevelT w="38100" h="50800" prst="angle"/>
            <a:contourClr>
              <a:schemeClr val="phClr">
                <a:shade val="40000"/>
                <a:satMod val="15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</a:schemeClr>
            </a:gs>
            <a:gs pos="75000">
              <a:schemeClr val="phClr">
                <a:shade val="100000"/>
                <a:satMod val="115000"/>
              </a:schemeClr>
            </a:gs>
            <a:gs pos="100000">
              <a:schemeClr val="phClr">
                <a:shade val="70000"/>
                <a:satMod val="130000"/>
              </a:schemeClr>
            </a:gs>
          </a:gsLst>
          <a:path path="circle">
            <a:fillToRect l="20000" t="50000" r="100000" b="5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7000"/>
              </a:schemeClr>
              <a:schemeClr val="phClr">
                <a:shade val="96000"/>
              </a:schemeClr>
            </a:duotone>
          </a:blip>
          <a:tile tx="0" ty="0" sx="32000" sy="32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Adjacency</Template>
  <TotalTime>37</TotalTime>
  <Words>240</Words>
  <Application>Microsoft Office PowerPoint</Application>
  <PresentationFormat>On-screen Show (4:3)</PresentationFormat>
  <Paragraphs>32</Paragraphs>
  <Slides>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Adjacency</vt:lpstr>
      <vt:lpstr>Hospital Management System using PostgreSQL and Springboot</vt:lpstr>
      <vt:lpstr>Introduction</vt:lpstr>
      <vt:lpstr>Tech Stack</vt:lpstr>
      <vt:lpstr>Maven Commands Used</vt:lpstr>
      <vt:lpstr>Project Structure</vt:lpstr>
      <vt:lpstr>Build Lifecycle Management Maven</vt:lpstr>
      <vt:lpstr>Advantages of Using Maven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Hospital Management System using PostgreSQL and Springboot</dc:title>
  <dc:creator>ACER</dc:creator>
  <cp:lastModifiedBy>ACER</cp:lastModifiedBy>
  <cp:revision>3</cp:revision>
  <dcterms:created xsi:type="dcterms:W3CDTF">2006-08-16T00:00:00Z</dcterms:created>
  <dcterms:modified xsi:type="dcterms:W3CDTF">2025-12-20T05:24:42Z</dcterms:modified>
</cp:coreProperties>
</file>